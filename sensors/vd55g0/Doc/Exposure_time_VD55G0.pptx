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2" r:id="rId2"/>
    <p:sldId id="266" r:id="rId3"/>
    <p:sldId id="269" r:id="rId4"/>
    <p:sldId id="270" r:id="rId5"/>
    <p:sldId id="268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95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024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st.com/trademarks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312988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0E53B0-4A6F-4EA6-BAD9-3F1084252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21F7501C-E215-48DE-9901-1589EACC1FF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828" y="0"/>
            <a:ext cx="6280432" cy="6858000"/>
          </a:xfrm>
          <a:custGeom>
            <a:avLst/>
            <a:gdLst>
              <a:gd name="connsiteX0" fmla="*/ 0 w 6280432"/>
              <a:gd name="connsiteY0" fmla="*/ 0 h 6858000"/>
              <a:gd name="connsiteX1" fmla="*/ 6280432 w 6280432"/>
              <a:gd name="connsiteY1" fmla="*/ 0 h 6858000"/>
              <a:gd name="connsiteX2" fmla="*/ 6280432 w 6280432"/>
              <a:gd name="connsiteY2" fmla="*/ 2281561 h 6858000"/>
              <a:gd name="connsiteX3" fmla="*/ 5466285 w 6280432"/>
              <a:gd name="connsiteY3" fmla="*/ 2281561 h 6858000"/>
              <a:gd name="connsiteX4" fmla="*/ 5466285 w 6280432"/>
              <a:gd name="connsiteY4" fmla="*/ 6858000 h 6858000"/>
              <a:gd name="connsiteX5" fmla="*/ 0 w 628043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0432" h="6858000">
                <a:moveTo>
                  <a:pt x="0" y="0"/>
                </a:moveTo>
                <a:lnTo>
                  <a:pt x="6280432" y="0"/>
                </a:lnTo>
                <a:lnTo>
                  <a:pt x="6280432" y="2281561"/>
                </a:lnTo>
                <a:lnTo>
                  <a:pt x="5466285" y="2281561"/>
                </a:lnTo>
                <a:lnTo>
                  <a:pt x="54662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304272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5701" y="2085976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5701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FC3CE6-78BD-44D0-9BE3-1EF21AC5D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F7C4B5-15B1-42E4-9F81-B5E59B0C5030}"/>
              </a:ext>
            </a:extLst>
          </p:cNvPr>
          <p:cNvSpPr/>
          <p:nvPr/>
        </p:nvSpPr>
        <p:spPr>
          <a:xfrm>
            <a:off x="-228" y="0"/>
            <a:ext cx="1155928" cy="6858000"/>
          </a:xfrm>
          <a:custGeom>
            <a:avLst/>
            <a:gdLst>
              <a:gd name="connsiteX0" fmla="*/ 0 w 1155928"/>
              <a:gd name="connsiteY0" fmla="*/ 0 h 6858000"/>
              <a:gd name="connsiteX1" fmla="*/ 439056 w 1155928"/>
              <a:gd name="connsiteY1" fmla="*/ 0 h 6858000"/>
              <a:gd name="connsiteX2" fmla="*/ 1155928 w 1155928"/>
              <a:gd name="connsiteY2" fmla="*/ 0 h 6858000"/>
              <a:gd name="connsiteX3" fmla="*/ 1155928 w 1155928"/>
              <a:gd name="connsiteY3" fmla="*/ 1714500 h 6858000"/>
              <a:gd name="connsiteX4" fmla="*/ 439056 w 1155928"/>
              <a:gd name="connsiteY4" fmla="*/ 1714500 h 6858000"/>
              <a:gd name="connsiteX5" fmla="*/ 439056 w 1155928"/>
              <a:gd name="connsiteY5" fmla="*/ 6858000 h 6858000"/>
              <a:gd name="connsiteX6" fmla="*/ 0 w 11559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928" h="6858000">
                <a:moveTo>
                  <a:pt x="0" y="0"/>
                </a:moveTo>
                <a:lnTo>
                  <a:pt x="439056" y="0"/>
                </a:lnTo>
                <a:lnTo>
                  <a:pt x="1155928" y="0"/>
                </a:lnTo>
                <a:lnTo>
                  <a:pt x="1155928" y="1714500"/>
                </a:lnTo>
                <a:lnTo>
                  <a:pt x="439056" y="1714500"/>
                </a:lnTo>
                <a:lnTo>
                  <a:pt x="4390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10E20D-C2F4-4C57-9379-900BECBE5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CCF378-34BF-4EE7-87EE-0F21AAF7F2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noFill/>
        </p:spPr>
        <p:txBody>
          <a:bodyPr vert="horz" wrap="none" lIns="91440" tIns="45720" rIns="90000" bIns="45720" rtlCol="0" anchor="ctr">
            <a:noAutofit/>
          </a:bodyPr>
          <a:lstStyle>
            <a:lvl1pPr algn="ctr">
              <a:buClr>
                <a:schemeClr val="tx1"/>
              </a:buClr>
              <a:defRPr lang="en-US" baseline="0">
                <a:solidFill>
                  <a:schemeClr val="bg2"/>
                </a:solidFill>
              </a:defRPr>
            </a:lvl1pPr>
          </a:lstStyle>
          <a:p>
            <a:pPr marL="261938" lvl="0" indent="-261938" algn="ctr"/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2E30E9-1079-4CF5-8813-8B65FB05D6D8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BD6E22D-9F81-4B7A-A71E-BBB4177578ED}"/>
                </a:ext>
              </a:extLst>
            </p:cNvPr>
            <p:cNvGrpSpPr/>
            <p:nvPr userDrawn="1"/>
          </p:nvGrpSpPr>
          <p:grpSpPr>
            <a:xfrm>
              <a:off x="-1" y="4152900"/>
              <a:ext cx="12191999" cy="2705100"/>
              <a:chOff x="1" y="4152900"/>
              <a:chExt cx="12191999" cy="2705100"/>
            </a:xfrm>
          </p:grpSpPr>
          <p:sp>
            <p:nvSpPr>
              <p:cNvPr id="9" name="Freeform 21">
                <a:extLst>
                  <a:ext uri="{FF2B5EF4-FFF2-40B4-BE49-F238E27FC236}">
                    <a16:creationId xmlns:a16="http://schemas.microsoft.com/office/drawing/2014/main" id="{B428783B-02FD-4849-BFB2-D1C2BC8E88B5}"/>
                  </a:ext>
                </a:extLst>
              </p:cNvPr>
              <p:cNvSpPr/>
              <p:nvPr/>
            </p:nvSpPr>
            <p:spPr>
              <a:xfrm>
                <a:off x="1" y="4152900"/>
                <a:ext cx="12191999" cy="2705100"/>
              </a:xfrm>
              <a:custGeom>
                <a:avLst/>
                <a:gdLst>
                  <a:gd name="connsiteX0" fmla="*/ 0 w 12191999"/>
                  <a:gd name="connsiteY0" fmla="*/ 0 h 2705100"/>
                  <a:gd name="connsiteX1" fmla="*/ 1104899 w 12191999"/>
                  <a:gd name="connsiteY1" fmla="*/ 0 h 2705100"/>
                  <a:gd name="connsiteX2" fmla="*/ 1104899 w 12191999"/>
                  <a:gd name="connsiteY2" fmla="*/ 1422400 h 2705100"/>
                  <a:gd name="connsiteX3" fmla="*/ 12191999 w 12191999"/>
                  <a:gd name="connsiteY3" fmla="*/ 1422400 h 2705100"/>
                  <a:gd name="connsiteX4" fmla="*/ 12191999 w 12191999"/>
                  <a:gd name="connsiteY4" fmla="*/ 2705100 h 2705100"/>
                  <a:gd name="connsiteX5" fmla="*/ 1 w 12191999"/>
                  <a:gd name="connsiteY5" fmla="*/ 2705100 h 2705100"/>
                  <a:gd name="connsiteX6" fmla="*/ 1 w 12191999"/>
                  <a:gd name="connsiteY6" fmla="*/ 1543050 h 2705100"/>
                  <a:gd name="connsiteX7" fmla="*/ 0 w 12191999"/>
                  <a:gd name="connsiteY7" fmla="*/ 1543050 h 270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1999" h="2705100">
                    <a:moveTo>
                      <a:pt x="0" y="0"/>
                    </a:moveTo>
                    <a:lnTo>
                      <a:pt x="1104899" y="0"/>
                    </a:lnTo>
                    <a:lnTo>
                      <a:pt x="1104899" y="1422400"/>
                    </a:lnTo>
                    <a:lnTo>
                      <a:pt x="12191999" y="1422400"/>
                    </a:lnTo>
                    <a:lnTo>
                      <a:pt x="12191999" y="2705100"/>
                    </a:lnTo>
                    <a:lnTo>
                      <a:pt x="1" y="2705100"/>
                    </a:lnTo>
                    <a:lnTo>
                      <a:pt x="1" y="1543050"/>
                    </a:lnTo>
                    <a:lnTo>
                      <a:pt x="0" y="1543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B1C6E9-C7C0-445A-8911-23E57FA33B25}"/>
                  </a:ext>
                </a:extLst>
              </p:cNvPr>
              <p:cNvSpPr/>
              <p:nvPr/>
            </p:nvSpPr>
            <p:spPr>
              <a:xfrm>
                <a:off x="219560" y="5822714"/>
                <a:ext cx="93952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  <a:t>© STMicroelectronics - All rights reserved.</a:t>
                </a:r>
                <a:b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ST logo is a trademark or a registered trademark of STMicroelectronics International NV or its affiliates in the EU and/or other countries. For additional information about ST trademarks, please refer to 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www.st.com/trademarks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. </a:t>
                </a:r>
                <a:b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All other product or service names are the property of their respective owners.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B3C9C090-4752-447B-8BD0-B05186572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15600" y="5621565"/>
                <a:ext cx="1599819" cy="1233297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7C8CE8D-FE25-40F5-A966-5717F85ACF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9336" y="1565049"/>
            <a:ext cx="6273328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8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lorPatch">
            <a:extLst>
              <a:ext uri="{FF2B5EF4-FFF2-40B4-BE49-F238E27FC236}">
                <a16:creationId xmlns:a16="http://schemas.microsoft.com/office/drawing/2014/main" id="{65F4699E-59A4-43A4-9A5C-D8BFD4B1E6D9}"/>
              </a:ext>
            </a:extLst>
          </p:cNvPr>
          <p:cNvSpPr/>
          <p:nvPr userDrawn="1"/>
        </p:nvSpPr>
        <p:spPr>
          <a:xfrm>
            <a:off x="-685800" y="5486400"/>
            <a:ext cx="317500" cy="3175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40" name="ColorPatch">
            <a:extLst>
              <a:ext uri="{FF2B5EF4-FFF2-40B4-BE49-F238E27FC236}">
                <a16:creationId xmlns:a16="http://schemas.microsoft.com/office/drawing/2014/main" id="{1B167F27-4BE8-4B9C-A3D6-12AB9D6515A0}"/>
              </a:ext>
            </a:extLst>
          </p:cNvPr>
          <p:cNvSpPr/>
          <p:nvPr userDrawn="1"/>
        </p:nvSpPr>
        <p:spPr>
          <a:xfrm>
            <a:off x="-685800" y="5143500"/>
            <a:ext cx="317500" cy="317500"/>
          </a:xfrm>
          <a:prstGeom prst="rect">
            <a:avLst/>
          </a:prstGeom>
          <a:solidFill>
            <a:srgbClr val="D1D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9" name="ColorPatch">
            <a:extLst>
              <a:ext uri="{FF2B5EF4-FFF2-40B4-BE49-F238E27FC236}">
                <a16:creationId xmlns:a16="http://schemas.microsoft.com/office/drawing/2014/main" id="{62C30C2F-9D3D-402B-9C93-7BB3D257A941}"/>
              </a:ext>
            </a:extLst>
          </p:cNvPr>
          <p:cNvSpPr/>
          <p:nvPr userDrawn="1"/>
        </p:nvSpPr>
        <p:spPr>
          <a:xfrm>
            <a:off x="-685800" y="4800600"/>
            <a:ext cx="317500" cy="317500"/>
          </a:xfrm>
          <a:prstGeom prst="rect">
            <a:avLst/>
          </a:prstGeom>
          <a:solidFill>
            <a:srgbClr val="A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8" name="ColorPatch">
            <a:extLst>
              <a:ext uri="{FF2B5EF4-FFF2-40B4-BE49-F238E27FC236}">
                <a16:creationId xmlns:a16="http://schemas.microsoft.com/office/drawing/2014/main" id="{D6517BE0-9063-4916-BC84-EDE406E9CDE4}"/>
              </a:ext>
            </a:extLst>
          </p:cNvPr>
          <p:cNvSpPr/>
          <p:nvPr userDrawn="1"/>
        </p:nvSpPr>
        <p:spPr>
          <a:xfrm>
            <a:off x="-685800" y="4457700"/>
            <a:ext cx="317500" cy="317500"/>
          </a:xfrm>
          <a:prstGeom prst="rect">
            <a:avLst/>
          </a:prstGeom>
          <a:solidFill>
            <a:srgbClr val="747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7" name="ColorPatch">
            <a:extLst>
              <a:ext uri="{FF2B5EF4-FFF2-40B4-BE49-F238E27FC236}">
                <a16:creationId xmlns:a16="http://schemas.microsoft.com/office/drawing/2014/main" id="{B5249DC3-A9A0-4038-AEE9-AEBFB5D0089D}"/>
              </a:ext>
            </a:extLst>
          </p:cNvPr>
          <p:cNvSpPr/>
          <p:nvPr userDrawn="1"/>
        </p:nvSpPr>
        <p:spPr>
          <a:xfrm>
            <a:off x="-685800" y="4114800"/>
            <a:ext cx="317500" cy="317500"/>
          </a:xfrm>
          <a:prstGeom prst="rect">
            <a:avLst/>
          </a:prstGeom>
          <a:solidFill>
            <a:srgbClr val="464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6" name="ColorPatch">
            <a:extLst>
              <a:ext uri="{FF2B5EF4-FFF2-40B4-BE49-F238E27FC236}">
                <a16:creationId xmlns:a16="http://schemas.microsoft.com/office/drawing/2014/main" id="{18A6D389-12F3-4EC1-8CC2-242EFF07CB1C}"/>
              </a:ext>
            </a:extLst>
          </p:cNvPr>
          <p:cNvSpPr/>
          <p:nvPr userDrawn="1"/>
        </p:nvSpPr>
        <p:spPr>
          <a:xfrm>
            <a:off x="-685800" y="3771900"/>
            <a:ext cx="317500" cy="317500"/>
          </a:xfrm>
          <a:prstGeom prst="rect">
            <a:avLst/>
          </a:prstGeom>
          <a:solidFill>
            <a:srgbClr val="E2B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5" name="ColorPatch">
            <a:extLst>
              <a:ext uri="{FF2B5EF4-FFF2-40B4-BE49-F238E27FC236}">
                <a16:creationId xmlns:a16="http://schemas.microsoft.com/office/drawing/2014/main" id="{2ADD0FF6-E42B-4A48-AA80-7BFCC31B080A}"/>
              </a:ext>
            </a:extLst>
          </p:cNvPr>
          <p:cNvSpPr/>
          <p:nvPr userDrawn="1"/>
        </p:nvSpPr>
        <p:spPr>
          <a:xfrm>
            <a:off x="-685800" y="3429000"/>
            <a:ext cx="317500" cy="317500"/>
          </a:xfrm>
          <a:prstGeom prst="rect">
            <a:avLst/>
          </a:prstGeom>
          <a:solidFill>
            <a:srgbClr val="C57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4" name="ColorPatch">
            <a:extLst>
              <a:ext uri="{FF2B5EF4-FFF2-40B4-BE49-F238E27FC236}">
                <a16:creationId xmlns:a16="http://schemas.microsoft.com/office/drawing/2014/main" id="{B669360D-4B82-4260-88C6-0543CF560378}"/>
              </a:ext>
            </a:extLst>
          </p:cNvPr>
          <p:cNvSpPr/>
          <p:nvPr userDrawn="1"/>
        </p:nvSpPr>
        <p:spPr>
          <a:xfrm>
            <a:off x="-685800" y="3086100"/>
            <a:ext cx="317500" cy="317500"/>
          </a:xfrm>
          <a:prstGeom prst="rect">
            <a:avLst/>
          </a:prstGeom>
          <a:solidFill>
            <a:srgbClr val="A94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3" name="ColorPatch">
            <a:extLst>
              <a:ext uri="{FF2B5EF4-FFF2-40B4-BE49-F238E27FC236}">
                <a16:creationId xmlns:a16="http://schemas.microsoft.com/office/drawing/2014/main" id="{B042156B-6D14-4769-85DE-0BC6133DC1EA}"/>
              </a:ext>
            </a:extLst>
          </p:cNvPr>
          <p:cNvSpPr/>
          <p:nvPr userDrawn="1"/>
        </p:nvSpPr>
        <p:spPr>
          <a:xfrm>
            <a:off x="-685800" y="2743200"/>
            <a:ext cx="317500" cy="317500"/>
          </a:xfrm>
          <a:prstGeom prst="rect">
            <a:avLst/>
          </a:prstGeom>
          <a:solidFill>
            <a:srgbClr val="8C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2" name="ColorPatch">
            <a:extLst>
              <a:ext uri="{FF2B5EF4-FFF2-40B4-BE49-F238E27FC236}">
                <a16:creationId xmlns:a16="http://schemas.microsoft.com/office/drawing/2014/main" id="{0A8AEA2A-477D-451D-A82D-F30F8990A07D}"/>
              </a:ext>
            </a:extLst>
          </p:cNvPr>
          <p:cNvSpPr/>
          <p:nvPr userDrawn="1"/>
        </p:nvSpPr>
        <p:spPr>
          <a:xfrm>
            <a:off x="-685800" y="2400300"/>
            <a:ext cx="317500" cy="317500"/>
          </a:xfrm>
          <a:prstGeom prst="rect">
            <a:avLst/>
          </a:prstGeom>
          <a:solidFill>
            <a:srgbClr val="C0D5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1" name="ColorPatch">
            <a:extLst>
              <a:ext uri="{FF2B5EF4-FFF2-40B4-BE49-F238E27FC236}">
                <a16:creationId xmlns:a16="http://schemas.microsoft.com/office/drawing/2014/main" id="{8CE1DB46-E195-40AF-8BEB-3E6873A1B2FA}"/>
              </a:ext>
            </a:extLst>
          </p:cNvPr>
          <p:cNvSpPr/>
          <p:nvPr userDrawn="1"/>
        </p:nvSpPr>
        <p:spPr>
          <a:xfrm>
            <a:off x="-685800" y="2057400"/>
            <a:ext cx="317500" cy="317500"/>
          </a:xfrm>
          <a:prstGeom prst="rect">
            <a:avLst/>
          </a:prstGeom>
          <a:solidFill>
            <a:srgbClr val="81AB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0" name="ColorPatch">
            <a:extLst>
              <a:ext uri="{FF2B5EF4-FFF2-40B4-BE49-F238E27FC236}">
                <a16:creationId xmlns:a16="http://schemas.microsoft.com/office/drawing/2014/main" id="{E0F1957D-72C6-4D6C-9201-6AA28AA6C57D}"/>
              </a:ext>
            </a:extLst>
          </p:cNvPr>
          <p:cNvSpPr/>
          <p:nvPr userDrawn="1"/>
        </p:nvSpPr>
        <p:spPr>
          <a:xfrm>
            <a:off x="-685800" y="1714500"/>
            <a:ext cx="317500" cy="317500"/>
          </a:xfrm>
          <a:prstGeom prst="rect">
            <a:avLst/>
          </a:prstGeom>
          <a:solidFill>
            <a:srgbClr val="438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9" name="ColorPatch">
            <a:extLst>
              <a:ext uri="{FF2B5EF4-FFF2-40B4-BE49-F238E27FC236}">
                <a16:creationId xmlns:a16="http://schemas.microsoft.com/office/drawing/2014/main" id="{F00834CE-7B51-4FC1-989D-97A947599379}"/>
              </a:ext>
            </a:extLst>
          </p:cNvPr>
          <p:cNvSpPr/>
          <p:nvPr userDrawn="1"/>
        </p:nvSpPr>
        <p:spPr>
          <a:xfrm>
            <a:off x="-685800" y="1371600"/>
            <a:ext cx="317500" cy="317500"/>
          </a:xfrm>
          <a:prstGeom prst="rect">
            <a:avLst/>
          </a:prstGeom>
          <a:solidFill>
            <a:srgbClr val="045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8" name="ColorPatch">
            <a:extLst>
              <a:ext uri="{FF2B5EF4-FFF2-40B4-BE49-F238E27FC236}">
                <a16:creationId xmlns:a16="http://schemas.microsoft.com/office/drawing/2014/main" id="{AB72B3FD-EF38-4401-99A2-12BA97E1031C}"/>
              </a:ext>
            </a:extLst>
          </p:cNvPr>
          <p:cNvSpPr/>
          <p:nvPr userDrawn="1"/>
        </p:nvSpPr>
        <p:spPr>
          <a:xfrm>
            <a:off x="-685800" y="1028700"/>
            <a:ext cx="317500" cy="317500"/>
          </a:xfrm>
          <a:prstGeom prst="rect">
            <a:avLst/>
          </a:prstGeom>
          <a:solidFill>
            <a:srgbClr val="D1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7" name="ColorPatch">
            <a:extLst>
              <a:ext uri="{FF2B5EF4-FFF2-40B4-BE49-F238E27FC236}">
                <a16:creationId xmlns:a16="http://schemas.microsoft.com/office/drawing/2014/main" id="{DB636BCE-D7BA-42A6-B589-71540B9DC5AD}"/>
              </a:ext>
            </a:extLst>
          </p:cNvPr>
          <p:cNvSpPr/>
          <p:nvPr userDrawn="1"/>
        </p:nvSpPr>
        <p:spPr>
          <a:xfrm>
            <a:off x="-685800" y="685800"/>
            <a:ext cx="317500" cy="317500"/>
          </a:xfrm>
          <a:prstGeom prst="rect">
            <a:avLst/>
          </a:prstGeom>
          <a:solidFill>
            <a:srgbClr val="A4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6" name="ColorPatch">
            <a:extLst>
              <a:ext uri="{FF2B5EF4-FFF2-40B4-BE49-F238E27FC236}">
                <a16:creationId xmlns:a16="http://schemas.microsoft.com/office/drawing/2014/main" id="{9D1EA9E9-05C1-4D17-8CE5-6492F824502A}"/>
              </a:ext>
            </a:extLst>
          </p:cNvPr>
          <p:cNvSpPr/>
          <p:nvPr userDrawn="1"/>
        </p:nvSpPr>
        <p:spPr>
          <a:xfrm>
            <a:off x="-685800" y="342900"/>
            <a:ext cx="317500" cy="317500"/>
          </a:xfrm>
          <a:prstGeom prst="rect">
            <a:avLst/>
          </a:prstGeom>
          <a:solidFill>
            <a:srgbClr val="77C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5" name="ColorPatch">
            <a:extLst>
              <a:ext uri="{FF2B5EF4-FFF2-40B4-BE49-F238E27FC236}">
                <a16:creationId xmlns:a16="http://schemas.microsoft.com/office/drawing/2014/main" id="{9A5ADA3E-3A73-4260-828D-18023D21EE0E}"/>
              </a:ext>
            </a:extLst>
          </p:cNvPr>
          <p:cNvSpPr/>
          <p:nvPr userDrawn="1"/>
        </p:nvSpPr>
        <p:spPr>
          <a:xfrm>
            <a:off x="-685800" y="0"/>
            <a:ext cx="317500" cy="317500"/>
          </a:xfrm>
          <a:prstGeom prst="rect">
            <a:avLst/>
          </a:prstGeom>
          <a:solidFill>
            <a:srgbClr val="49B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4" name="ColorPatch">
            <a:extLst>
              <a:ext uri="{FF2B5EF4-FFF2-40B4-BE49-F238E27FC236}">
                <a16:creationId xmlns:a16="http://schemas.microsoft.com/office/drawing/2014/main" id="{177ED0F8-E668-4F55-9F61-0BADCC753B93}"/>
              </a:ext>
            </a:extLst>
          </p:cNvPr>
          <p:cNvSpPr/>
          <p:nvPr userDrawn="1"/>
        </p:nvSpPr>
        <p:spPr>
          <a:xfrm>
            <a:off x="-342900" y="5143500"/>
            <a:ext cx="317500" cy="317500"/>
          </a:xfrm>
          <a:prstGeom prst="rect">
            <a:avLst/>
          </a:prstGeom>
          <a:solidFill>
            <a:srgbClr val="F9B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3" name="ColorPatch">
            <a:extLst>
              <a:ext uri="{FF2B5EF4-FFF2-40B4-BE49-F238E27FC236}">
                <a16:creationId xmlns:a16="http://schemas.microsoft.com/office/drawing/2014/main" id="{8CD7E567-0649-47B4-B5F7-346B6C6FAE6E}"/>
              </a:ext>
            </a:extLst>
          </p:cNvPr>
          <p:cNvSpPr/>
          <p:nvPr userDrawn="1"/>
        </p:nvSpPr>
        <p:spPr>
          <a:xfrm>
            <a:off x="-342900" y="4800600"/>
            <a:ext cx="317500" cy="317500"/>
          </a:xfrm>
          <a:prstGeom prst="rect">
            <a:avLst/>
          </a:prstGeom>
          <a:solidFill>
            <a:srgbClr val="F27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2" name="ColorPatch">
            <a:extLst>
              <a:ext uri="{FF2B5EF4-FFF2-40B4-BE49-F238E27FC236}">
                <a16:creationId xmlns:a16="http://schemas.microsoft.com/office/drawing/2014/main" id="{0B27B926-9D23-408B-B261-7474BA138B0E}"/>
              </a:ext>
            </a:extLst>
          </p:cNvPr>
          <p:cNvSpPr/>
          <p:nvPr userDrawn="1"/>
        </p:nvSpPr>
        <p:spPr>
          <a:xfrm>
            <a:off x="-342900" y="4457700"/>
            <a:ext cx="317500" cy="317500"/>
          </a:xfrm>
          <a:prstGeom prst="rect">
            <a:avLst/>
          </a:prstGeom>
          <a:solidFill>
            <a:srgbClr val="EC4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1" name="ColorPatch">
            <a:extLst>
              <a:ext uri="{FF2B5EF4-FFF2-40B4-BE49-F238E27FC236}">
                <a16:creationId xmlns:a16="http://schemas.microsoft.com/office/drawing/2014/main" id="{C79F16A5-2F29-42BB-88AB-9C69D7AB8969}"/>
              </a:ext>
            </a:extLst>
          </p:cNvPr>
          <p:cNvSpPr/>
          <p:nvPr userDrawn="1"/>
        </p:nvSpPr>
        <p:spPr>
          <a:xfrm>
            <a:off x="-342900" y="4114800"/>
            <a:ext cx="317500" cy="3175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0" name="ColorPatch">
            <a:extLst>
              <a:ext uri="{FF2B5EF4-FFF2-40B4-BE49-F238E27FC236}">
                <a16:creationId xmlns:a16="http://schemas.microsoft.com/office/drawing/2014/main" id="{7164F073-8D27-4C57-9FA9-5D80FC8EDB68}"/>
              </a:ext>
            </a:extLst>
          </p:cNvPr>
          <p:cNvSpPr/>
          <p:nvPr userDrawn="1"/>
        </p:nvSpPr>
        <p:spPr>
          <a:xfrm>
            <a:off x="-342900" y="3771900"/>
            <a:ext cx="317500" cy="317500"/>
          </a:xfrm>
          <a:prstGeom prst="rect">
            <a:avLst/>
          </a:prstGeom>
          <a:solidFill>
            <a:srgbClr val="FFF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9" name="ColorPatch">
            <a:extLst>
              <a:ext uri="{FF2B5EF4-FFF2-40B4-BE49-F238E27FC236}">
                <a16:creationId xmlns:a16="http://schemas.microsoft.com/office/drawing/2014/main" id="{C400E972-E723-4251-BA45-FDC0E6CEEF6C}"/>
              </a:ext>
            </a:extLst>
          </p:cNvPr>
          <p:cNvSpPr/>
          <p:nvPr userDrawn="1"/>
        </p:nvSpPr>
        <p:spPr>
          <a:xfrm>
            <a:off x="-342900" y="3429000"/>
            <a:ext cx="317500" cy="317500"/>
          </a:xfrm>
          <a:prstGeom prst="rect">
            <a:avLst/>
          </a:prstGeom>
          <a:solidFill>
            <a:srgbClr val="FFE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8" name="ColorPatch">
            <a:extLst>
              <a:ext uri="{FF2B5EF4-FFF2-40B4-BE49-F238E27FC236}">
                <a16:creationId xmlns:a16="http://schemas.microsoft.com/office/drawing/2014/main" id="{50D772BA-D4EE-40DA-B415-8EC283428CF5}"/>
              </a:ext>
            </a:extLst>
          </p:cNvPr>
          <p:cNvSpPr/>
          <p:nvPr userDrawn="1"/>
        </p:nvSpPr>
        <p:spPr>
          <a:xfrm>
            <a:off x="-342900" y="3086100"/>
            <a:ext cx="317500" cy="317500"/>
          </a:xfrm>
          <a:prstGeom prst="rect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7" name="ColorPatch">
            <a:extLst>
              <a:ext uri="{FF2B5EF4-FFF2-40B4-BE49-F238E27FC236}">
                <a16:creationId xmlns:a16="http://schemas.microsoft.com/office/drawing/2014/main" id="{6BEEA5BD-11E7-4F3D-BD73-EC2249E8CCEB}"/>
              </a:ext>
            </a:extLst>
          </p:cNvPr>
          <p:cNvSpPr/>
          <p:nvPr userDrawn="1"/>
        </p:nvSpPr>
        <p:spPr>
          <a:xfrm>
            <a:off x="-342900" y="2743200"/>
            <a:ext cx="317500" cy="317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6" name="ColorPatch">
            <a:extLst>
              <a:ext uri="{FF2B5EF4-FFF2-40B4-BE49-F238E27FC236}">
                <a16:creationId xmlns:a16="http://schemas.microsoft.com/office/drawing/2014/main" id="{27A566A9-4C8D-4179-BE6D-6A885CF5E38A}"/>
              </a:ext>
            </a:extLst>
          </p:cNvPr>
          <p:cNvSpPr/>
          <p:nvPr userDrawn="1"/>
        </p:nvSpPr>
        <p:spPr>
          <a:xfrm>
            <a:off x="-342900" y="2400300"/>
            <a:ext cx="317500" cy="317500"/>
          </a:xfrm>
          <a:prstGeom prst="rect">
            <a:avLst/>
          </a:prstGeom>
          <a:solidFill>
            <a:srgbClr val="CEEC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ColorPatch">
            <a:extLst>
              <a:ext uri="{FF2B5EF4-FFF2-40B4-BE49-F238E27FC236}">
                <a16:creationId xmlns:a16="http://schemas.microsoft.com/office/drawing/2014/main" id="{98BB652E-B542-4A6D-842C-A8AFF7CF962D}"/>
              </a:ext>
            </a:extLst>
          </p:cNvPr>
          <p:cNvSpPr/>
          <p:nvPr userDrawn="1"/>
        </p:nvSpPr>
        <p:spPr>
          <a:xfrm>
            <a:off x="-342900" y="2057400"/>
            <a:ext cx="317500" cy="317500"/>
          </a:xfrm>
          <a:prstGeom prst="rect">
            <a:avLst/>
          </a:prstGeom>
          <a:solidFill>
            <a:srgbClr val="9DD9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4" name="ColorPatch">
            <a:extLst>
              <a:ext uri="{FF2B5EF4-FFF2-40B4-BE49-F238E27FC236}">
                <a16:creationId xmlns:a16="http://schemas.microsoft.com/office/drawing/2014/main" id="{7BE09878-3507-434C-8FBD-3253E93E01C8}"/>
              </a:ext>
            </a:extLst>
          </p:cNvPr>
          <p:cNvSpPr/>
          <p:nvPr userDrawn="1"/>
        </p:nvSpPr>
        <p:spPr>
          <a:xfrm>
            <a:off x="-342900" y="1714500"/>
            <a:ext cx="317500" cy="317500"/>
          </a:xfrm>
          <a:prstGeom prst="rect">
            <a:avLst/>
          </a:prstGeom>
          <a:solidFill>
            <a:srgbClr val="6DC7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2" name="ColorPatch">
            <a:extLst>
              <a:ext uri="{FF2B5EF4-FFF2-40B4-BE49-F238E27FC236}">
                <a16:creationId xmlns:a16="http://schemas.microsoft.com/office/drawing/2014/main" id="{2E26D6BD-036D-4346-A29B-7683021D70FB}"/>
              </a:ext>
            </a:extLst>
          </p:cNvPr>
          <p:cNvSpPr/>
          <p:nvPr userDrawn="1"/>
        </p:nvSpPr>
        <p:spPr>
          <a:xfrm>
            <a:off x="-342900" y="1371600"/>
            <a:ext cx="317500" cy="317500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1" name="ColorPatch">
            <a:extLst>
              <a:ext uri="{FF2B5EF4-FFF2-40B4-BE49-F238E27FC236}">
                <a16:creationId xmlns:a16="http://schemas.microsoft.com/office/drawing/2014/main" id="{D840EC2E-1487-4A69-A809-9929CDB60313}"/>
              </a:ext>
            </a:extLst>
          </p:cNvPr>
          <p:cNvSpPr/>
          <p:nvPr userDrawn="1"/>
        </p:nvSpPr>
        <p:spPr>
          <a:xfrm>
            <a:off x="-342900" y="1028700"/>
            <a:ext cx="317500" cy="317500"/>
          </a:xfrm>
          <a:prstGeom prst="rect">
            <a:avLst/>
          </a:prstGeom>
          <a:solidFill>
            <a:srgbClr val="C0C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0" name="ColorPatch">
            <a:extLst>
              <a:ext uri="{FF2B5EF4-FFF2-40B4-BE49-F238E27FC236}">
                <a16:creationId xmlns:a16="http://schemas.microsoft.com/office/drawing/2014/main" id="{4BBE9809-F301-459A-87DE-3C5C95F62870}"/>
              </a:ext>
            </a:extLst>
          </p:cNvPr>
          <p:cNvSpPr/>
          <p:nvPr userDrawn="1"/>
        </p:nvSpPr>
        <p:spPr>
          <a:xfrm>
            <a:off x="-342900" y="685800"/>
            <a:ext cx="317500" cy="317500"/>
          </a:xfrm>
          <a:prstGeom prst="rect">
            <a:avLst/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8" name="ColorPatch">
            <a:extLst>
              <a:ext uri="{FF2B5EF4-FFF2-40B4-BE49-F238E27FC236}">
                <a16:creationId xmlns:a16="http://schemas.microsoft.com/office/drawing/2014/main" id="{AD5D23E8-FC29-4F12-AB2C-C32E10546318}"/>
              </a:ext>
            </a:extLst>
          </p:cNvPr>
          <p:cNvSpPr/>
          <p:nvPr userDrawn="1"/>
        </p:nvSpPr>
        <p:spPr>
          <a:xfrm>
            <a:off x="-342900" y="342900"/>
            <a:ext cx="317500" cy="317500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ColorPatch">
            <a:extLst>
              <a:ext uri="{FF2B5EF4-FFF2-40B4-BE49-F238E27FC236}">
                <a16:creationId xmlns:a16="http://schemas.microsoft.com/office/drawing/2014/main" id="{57149537-0C06-456D-A4A3-2FBB5503631B}"/>
              </a:ext>
            </a:extLst>
          </p:cNvPr>
          <p:cNvSpPr/>
          <p:nvPr userDrawn="1"/>
        </p:nvSpPr>
        <p:spPr>
          <a:xfrm>
            <a:off x="-342900" y="0"/>
            <a:ext cx="317500" cy="3175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4/3/2024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5869DE-15C9-73A8-6DE3-4B7328A50A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06163" y="6611620"/>
            <a:ext cx="9652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 Restricted</a:t>
            </a:r>
          </a:p>
        </p:txBody>
      </p:sp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hyperlink" Target="http://www.st.com/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seo.st.com/toolbox/shortcuts/" TargetMode="Externa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Exposure times VD55G0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4A99-7044-46AB-819C-A2F7A31BB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MIN_EXPOSURE_IN_CURRENT_CONFIG (0x012E)</a:t>
            </a:r>
            <a:r>
              <a:rPr lang="en-US" dirty="0"/>
              <a:t>: defined by datasheet and  depending on configuration (UM, page 26): 19.</a:t>
            </a:r>
          </a:p>
          <a:p>
            <a:r>
              <a:rPr lang="en-US" b="1" dirty="0"/>
              <a:t>MAX_EXPOSURE_IN_CURRENT_CONFIG (0x0138)</a:t>
            </a:r>
            <a:r>
              <a:rPr lang="en-US" dirty="0"/>
              <a:t>: depending on frame rate applied (if exposure lines are too high, the sensor sets the applied exposure lines at MAX_EXPOSURE_IN_CURRENT_CONFIG) (max 32744).</a:t>
            </a:r>
          </a:p>
          <a:p>
            <a:r>
              <a:rPr lang="en-US" b="1" dirty="0"/>
              <a:t>APPLIED_COARSE_EXPOSURE (0x0064): </a:t>
            </a:r>
            <a:r>
              <a:rPr lang="en-US" dirty="0"/>
              <a:t>exposure lines applied for the acquisition.</a:t>
            </a:r>
          </a:p>
          <a:p>
            <a:pPr marL="0" indent="0">
              <a:buNone/>
            </a:pPr>
            <a:r>
              <a:rPr lang="en-US" b="1" dirty="0"/>
              <a:t>!!! The registers are updated during streaming. To see updated values, a frame needs to be acquired !!!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783DC7-CDCE-49DA-BAA3-66FE9AB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 anchor="ctr"/>
          <a:lstStyle/>
          <a:p>
            <a:pPr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Exposure Lines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7F06DA-39CD-4139-8332-23ADB4C7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676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717C98-3F4D-E077-F10D-8F24584B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Exposure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0BD6C7-57E6-812E-3E27-2F576B9CB823}"/>
                  </a:ext>
                </a:extLst>
              </p:cNvPr>
              <p:cNvSpPr txBox="1"/>
              <p:nvPr/>
            </p:nvSpPr>
            <p:spPr>
              <a:xfrm>
                <a:off x="326929" y="1327894"/>
                <a:ext cx="2625655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𝐿𝑖𝑛𝑒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𝐿𝑖𝑛𝑒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𝐿𝑒𝑛𝑔𝑡h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𝑃𝑖𝑥𝑒𝑙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𝑐𝑙𝑜𝑐𝑘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0BD6C7-57E6-812E-3E27-2F576B9CB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29" y="1327894"/>
                <a:ext cx="2625655" cy="525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3A650D-AEAC-5742-BE17-389C2A01CF72}"/>
                  </a:ext>
                </a:extLst>
              </p:cNvPr>
              <p:cNvSpPr txBox="1"/>
              <p:nvPr/>
            </p:nvSpPr>
            <p:spPr>
              <a:xfrm>
                <a:off x="3823806" y="1452383"/>
                <a:ext cx="48663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𝐸𝑥𝑝𝑜𝑠𝑢𝑟𝑒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𝐿𝑖𝑛𝑒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𝐸𝑥𝑝𝑜𝑠𝑢𝑟𝑒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𝐿𝑖𝑛𝑒𝑠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3A650D-AEAC-5742-BE17-389C2A01C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806" y="1452383"/>
                <a:ext cx="4866332" cy="276999"/>
              </a:xfrm>
              <a:prstGeom prst="rect">
                <a:avLst/>
              </a:prstGeom>
              <a:blipFill>
                <a:blip r:embed="rId3"/>
                <a:stretch>
                  <a:fillRect l="-1001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14BBBB-3BF6-3EDA-4BBE-BCBE8CE02132}"/>
                  </a:ext>
                </a:extLst>
              </p:cNvPr>
              <p:cNvSpPr txBox="1"/>
              <p:nvPr/>
            </p:nvSpPr>
            <p:spPr>
              <a:xfrm>
                <a:off x="9561361" y="1440480"/>
                <a:ext cx="23888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𝑃𝑖𝑥𝑒𝑙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𝑀𝐻𝑧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14BBBB-3BF6-3EDA-4BBE-BCBE8CE02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1361" y="1440480"/>
                <a:ext cx="2388859" cy="276999"/>
              </a:xfrm>
              <a:prstGeom prst="rect">
                <a:avLst/>
              </a:prstGeom>
              <a:blipFill>
                <a:blip r:embed="rId4"/>
                <a:stretch>
                  <a:fillRect l="-1786" r="-17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B9B6A1-4892-B5BD-6C52-D7F5326D3DB4}"/>
                  </a:ext>
                </a:extLst>
              </p:cNvPr>
              <p:cNvSpPr txBox="1"/>
              <p:nvPr/>
            </p:nvSpPr>
            <p:spPr>
              <a:xfrm>
                <a:off x="300037" y="2867926"/>
                <a:ext cx="23696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𝐿𝑖𝑛𝑒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=64,516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B9B6A1-4892-B5BD-6C52-D7F5326D3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37" y="2867926"/>
                <a:ext cx="2369688" cy="276999"/>
              </a:xfrm>
              <a:prstGeom prst="rect">
                <a:avLst/>
              </a:prstGeom>
              <a:blipFill>
                <a:blip r:embed="rId5"/>
                <a:stretch>
                  <a:fillRect l="-1799" r="-771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0DF01B8-D95B-15C3-792E-E46A0159F99A}"/>
              </a:ext>
            </a:extLst>
          </p:cNvPr>
          <p:cNvSpPr/>
          <p:nvPr/>
        </p:nvSpPr>
        <p:spPr>
          <a:xfrm>
            <a:off x="0" y="2106517"/>
            <a:ext cx="6965576" cy="573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dirty="0"/>
              <a:t>Line Length @ 8000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D1A740-2466-F3FA-E9B2-E8DC4FCA8D01}"/>
                  </a:ext>
                </a:extLst>
              </p:cNvPr>
              <p:cNvSpPr txBox="1"/>
              <p:nvPr/>
            </p:nvSpPr>
            <p:spPr>
              <a:xfrm>
                <a:off x="3482788" y="2867926"/>
                <a:ext cx="6613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𝐸𝑥𝑝𝑜𝑠𝑢𝑟𝑒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=64,516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19−32744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D1A740-2466-F3FA-E9B2-E8DC4FCA8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788" y="2867926"/>
                <a:ext cx="6613669" cy="276999"/>
              </a:xfrm>
              <a:prstGeom prst="rect">
                <a:avLst/>
              </a:prstGeom>
              <a:blipFill>
                <a:blip r:embed="rId6"/>
                <a:stretch>
                  <a:fillRect l="-645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9ABC10D-83F9-90D6-BADF-A6CE034C8493}"/>
              </a:ext>
            </a:extLst>
          </p:cNvPr>
          <p:cNvSpPr/>
          <p:nvPr/>
        </p:nvSpPr>
        <p:spPr>
          <a:xfrm>
            <a:off x="0" y="3440395"/>
            <a:ext cx="6965576" cy="573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dirty="0"/>
              <a:t>Line Length @ 1800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D4B08F-A266-DAB6-ECDB-26608C9F6522}"/>
                  </a:ext>
                </a:extLst>
              </p:cNvPr>
              <p:cNvSpPr txBox="1"/>
              <p:nvPr/>
            </p:nvSpPr>
            <p:spPr>
              <a:xfrm>
                <a:off x="192019" y="4313266"/>
                <a:ext cx="24209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𝐿𝑖𝑛𝑒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=14,516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D4B08F-A266-DAB6-ECDB-26608C9F6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19" y="4313266"/>
                <a:ext cx="2420984" cy="276999"/>
              </a:xfrm>
              <a:prstGeom prst="rect">
                <a:avLst/>
              </a:prstGeom>
              <a:blipFill>
                <a:blip r:embed="rId7"/>
                <a:stretch>
                  <a:fillRect l="-503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91D42D-8099-CF6E-6254-498CF8F69721}"/>
                  </a:ext>
                </a:extLst>
              </p:cNvPr>
              <p:cNvSpPr txBox="1"/>
              <p:nvPr/>
            </p:nvSpPr>
            <p:spPr>
              <a:xfrm>
                <a:off x="3482788" y="4306491"/>
                <a:ext cx="73125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𝐸𝑥𝑝𝑜𝑠𝑢𝑟𝑒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=14,516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19−32744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𝟐𝟕𝟓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𝟒𝟕𝟓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𝟑𝟏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91D42D-8099-CF6E-6254-498CF8F69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788" y="4306491"/>
                <a:ext cx="7312578" cy="276999"/>
              </a:xfrm>
              <a:prstGeom prst="rect">
                <a:avLst/>
              </a:prstGeom>
              <a:blipFill>
                <a:blip r:embed="rId8"/>
                <a:stretch>
                  <a:fillRect l="-500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50BDAE8E-D79D-5C71-2AC4-C762B4609423}"/>
              </a:ext>
            </a:extLst>
          </p:cNvPr>
          <p:cNvSpPr/>
          <p:nvPr/>
        </p:nvSpPr>
        <p:spPr>
          <a:xfrm>
            <a:off x="0" y="4885735"/>
            <a:ext cx="6965576" cy="573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dirty="0"/>
              <a:t>Line Length @ 1200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7F2403-E4FE-C218-A6A5-AA57BB3ABA1F}"/>
                  </a:ext>
                </a:extLst>
              </p:cNvPr>
              <p:cNvSpPr txBox="1"/>
              <p:nvPr/>
            </p:nvSpPr>
            <p:spPr>
              <a:xfrm>
                <a:off x="192019" y="5620106"/>
                <a:ext cx="23696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𝐿𝑖𝑛𝑒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=9,6774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7F2403-E4FE-C218-A6A5-AA57BB3AB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19" y="5620106"/>
                <a:ext cx="2369688" cy="276999"/>
              </a:xfrm>
              <a:prstGeom prst="rect">
                <a:avLst/>
              </a:prstGeom>
              <a:blipFill>
                <a:blip r:embed="rId9"/>
                <a:stretch>
                  <a:fillRect l="-1542" r="-771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4016347-8260-7537-6FB2-C0995FE1F58A}"/>
                  </a:ext>
                </a:extLst>
              </p:cNvPr>
              <p:cNvSpPr txBox="1"/>
              <p:nvPr/>
            </p:nvSpPr>
            <p:spPr>
              <a:xfrm>
                <a:off x="3482788" y="5620774"/>
                <a:ext cx="7312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𝐸𝑥𝑝𝑜𝑠𝑢𝑟𝑒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=9,6774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19−32744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𝟏𝟖𝟑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𝟑𝟏𝟔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4016347-8260-7537-6FB2-C0995FE1F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788" y="5620774"/>
                <a:ext cx="7312579" cy="276999"/>
              </a:xfrm>
              <a:prstGeom prst="rect">
                <a:avLst/>
              </a:prstGeom>
              <a:blipFill>
                <a:blip r:embed="rId10"/>
                <a:stretch>
                  <a:fillRect l="-500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9293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45FC1C-E9FA-C2F4-18B8-A9306E6A5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Exposure Settings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C6D07-B952-2965-FCED-A70666620624}"/>
              </a:ext>
            </a:extLst>
          </p:cNvPr>
          <p:cNvSpPr/>
          <p:nvPr/>
        </p:nvSpPr>
        <p:spPr>
          <a:xfrm>
            <a:off x="0" y="1541990"/>
            <a:ext cx="6965576" cy="573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dirty="0"/>
              <a:t>Low exposure: 4ms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9C2BE-5634-4957-FA5F-5D7E5E7FA6AC}"/>
              </a:ext>
            </a:extLst>
          </p:cNvPr>
          <p:cNvSpPr txBox="1"/>
          <p:nvPr/>
        </p:nvSpPr>
        <p:spPr>
          <a:xfrm>
            <a:off x="9304867" y="3105834"/>
            <a:ext cx="249396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/>
              <a:t>Line Length @ 8000</a:t>
            </a:r>
          </a:p>
          <a:p>
            <a:pPr>
              <a:buClr>
                <a:schemeClr val="bg1"/>
              </a:buClr>
            </a:pPr>
            <a:r>
              <a:rPr lang="en-US" dirty="0"/>
              <a:t>Line Time = 64,516 µs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5C17AF-8385-5F74-883D-156D2BFAC49B}"/>
              </a:ext>
            </a:extLst>
          </p:cNvPr>
          <p:cNvSpPr/>
          <p:nvPr/>
        </p:nvSpPr>
        <p:spPr>
          <a:xfrm>
            <a:off x="0" y="3109845"/>
            <a:ext cx="6965576" cy="573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dirty="0"/>
              <a:t>Medium exposure: 20ms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8A0EDC-C990-195E-8BB2-C208B777E609}"/>
              </a:ext>
            </a:extLst>
          </p:cNvPr>
          <p:cNvSpPr/>
          <p:nvPr/>
        </p:nvSpPr>
        <p:spPr>
          <a:xfrm>
            <a:off x="0" y="4689403"/>
            <a:ext cx="6965576" cy="573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r>
              <a:rPr lang="en-US" dirty="0"/>
              <a:t>Medium exposure: 100ms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43F6F6-5825-065B-8A24-1EBA114BDDB6}"/>
                  </a:ext>
                </a:extLst>
              </p:cNvPr>
              <p:cNvSpPr txBox="1"/>
              <p:nvPr/>
            </p:nvSpPr>
            <p:spPr>
              <a:xfrm>
                <a:off x="300036" y="2331378"/>
                <a:ext cx="4041235" cy="5627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𝐸𝑥𝑝𝑜𝑠𝑢𝑟𝑒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𝐿𝑖𝑛𝑒𝑠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64,516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𝑙𝑖𝑛𝑒𝑠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43F6F6-5825-065B-8A24-1EBA114BD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36" y="2331378"/>
                <a:ext cx="4041235" cy="5627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F1045B-888C-C959-3D3B-E81661EF82AD}"/>
                  </a:ext>
                </a:extLst>
              </p:cNvPr>
              <p:cNvSpPr txBox="1"/>
              <p:nvPr/>
            </p:nvSpPr>
            <p:spPr>
              <a:xfrm>
                <a:off x="300036" y="3906866"/>
                <a:ext cx="4169475" cy="563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𝐸𝑥𝑝𝑜𝑠𝑢𝑟𝑒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𝐿𝑖𝑛𝑒𝑠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64,516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=310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𝑙𝑖𝑛𝑒𝑠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F1045B-888C-C959-3D3B-E81661EF8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36" y="3906866"/>
                <a:ext cx="4169475" cy="5638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ECE0AC-46E7-9150-7DEB-5C55C97BD510}"/>
                  </a:ext>
                </a:extLst>
              </p:cNvPr>
              <p:cNvSpPr txBox="1"/>
              <p:nvPr/>
            </p:nvSpPr>
            <p:spPr>
              <a:xfrm>
                <a:off x="300036" y="5476529"/>
                <a:ext cx="4297715" cy="563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𝐸𝑥𝑝𝑜𝑠𝑢𝑟𝑒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𝐿𝑖𝑛𝑒𝑠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64,516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=1550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𝑙𝑖𝑛𝑒𝑠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ECE0AC-46E7-9150-7DEB-5C55C97BD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36" y="5476529"/>
                <a:ext cx="4297715" cy="5638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44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78DEF53-6BA0-4AE0-82C9-7FF45CA58409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2E95F74-78DE-4723-99D9-0EDA05B8C438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3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294DF564-4D7F-4CB2-B602-D07487BF8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C11AC4-D72E-45C2-987A-176079AF51FB}"/>
              </a:ext>
            </a:extLst>
          </p:cNvPr>
          <p:cNvGrpSpPr/>
          <p:nvPr/>
        </p:nvGrpSpPr>
        <p:grpSpPr>
          <a:xfrm>
            <a:off x="13050574" y="0"/>
            <a:ext cx="5935784" cy="2385268"/>
            <a:chOff x="13050574" y="0"/>
            <a:chExt cx="5935784" cy="23852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DC11DF-C48E-453F-A1B5-A6649B8DB2FF}"/>
                </a:ext>
              </a:extLst>
            </p:cNvPr>
            <p:cNvSpPr txBox="1"/>
            <p:nvPr/>
          </p:nvSpPr>
          <p:spPr>
            <a:xfrm>
              <a:off x="13050574" y="0"/>
              <a:ext cx="5935784" cy="23852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1080000" rtlCol="0">
              <a:spAutoFit/>
            </a:bodyPr>
            <a:lstStyle/>
            <a:p>
              <a:r>
                <a:rPr lang="en-US" sz="2400" dirty="0"/>
                <a:t>You can personalize this </a:t>
              </a:r>
            </a:p>
            <a:p>
              <a:r>
                <a:rPr lang="en-US" sz="2400" dirty="0"/>
                <a:t>last page with a short link</a:t>
              </a:r>
            </a:p>
            <a:p>
              <a:r>
                <a:rPr lang="en-US" sz="2400" dirty="0"/>
                <a:t>(ex. </a:t>
              </a:r>
              <a:r>
                <a:rPr lang="en-US" sz="2400" dirty="0">
                  <a:solidFill>
                    <a:schemeClr val="accent3"/>
                  </a:solidFill>
                </a:rPr>
                <a:t>www.st.com/shortlink</a:t>
              </a:r>
              <a:r>
                <a:rPr lang="en-US" sz="2400" dirty="0"/>
                <a:t>)</a:t>
              </a:r>
            </a:p>
            <a:p>
              <a:pPr>
                <a:spcBef>
                  <a:spcPts val="600"/>
                </a:spcBef>
              </a:pPr>
              <a:r>
                <a:rPr lang="en-US" sz="2400" dirty="0"/>
                <a:t>You can find a complete list of </a:t>
              </a:r>
              <a:br>
                <a:rPr lang="en-US" sz="2400" dirty="0"/>
              </a:br>
              <a:r>
                <a:rPr lang="en-US" sz="2400" dirty="0"/>
                <a:t>st.com short links on this page:</a:t>
              </a:r>
            </a:p>
            <a:p>
              <a:r>
                <a:rPr lang="en-US" sz="2400" dirty="0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http://seo.st.com/toolbox/shortcuts/</a:t>
              </a:r>
              <a:endParaRPr lang="en-US" sz="2400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B17AADF4-D9A4-4FB4-955B-6A59A64BA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192580" y="216897"/>
              <a:ext cx="770076" cy="7700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6014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 dirty="0"/>
              <a:t>you can visit the ST Brand Portal</a:t>
            </a:r>
            <a:br>
              <a:rPr lang="en-US" dirty="0"/>
            </a:br>
            <a:r>
              <a:rPr lang="en-US" dirty="0">
                <a:hlinkClick r:id="rId4"/>
              </a:rPr>
              <a:t>https://brandportal.st.com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97F8C3-7076-49CE-AED6-F8EE2EE41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6</a:t>
            </a:fld>
            <a:endParaRPr lang="fr-FR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8825EC-7476-4B89-9697-5CAF90DEE109}"/>
              </a:ext>
            </a:extLst>
          </p:cNvPr>
          <p:cNvGrpSpPr/>
          <p:nvPr/>
        </p:nvGrpSpPr>
        <p:grpSpPr>
          <a:xfrm>
            <a:off x="13050574" y="0"/>
            <a:ext cx="4573232" cy="1200329"/>
            <a:chOff x="13050574" y="0"/>
            <a:chExt cx="4573232" cy="1200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E01911-0E33-4A22-9E3E-E178DA78E5EF}"/>
                </a:ext>
              </a:extLst>
            </p:cNvPr>
            <p:cNvSpPr txBox="1"/>
            <p:nvPr/>
          </p:nvSpPr>
          <p:spPr>
            <a:xfrm>
              <a:off x="13050574" y="0"/>
              <a:ext cx="4573232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1080000" rtlCol="0">
              <a:spAutoFit/>
            </a:bodyPr>
            <a:lstStyle/>
            <a:p>
              <a:r>
                <a:rPr lang="en-US" sz="2400" dirty="0"/>
                <a:t>Please remove this page</a:t>
              </a:r>
            </a:p>
            <a:p>
              <a:r>
                <a:rPr lang="en-US" sz="2400" dirty="0"/>
                <a:t>before publishing the </a:t>
              </a:r>
            </a:p>
            <a:p>
              <a:r>
                <a:rPr lang="en-US" sz="2400" dirty="0"/>
                <a:t>presentation</a:t>
              </a: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53AB4E1-EA61-4358-BF4D-D7F789147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192580" y="216897"/>
              <a:ext cx="770076" cy="7700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Microelectronics 2021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3CB4E6"/>
      </a:hlink>
      <a:folHlink>
        <a:srgbClr val="3CB4E6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CD5ACC94-6E44-41CD-AD84-5EC23CEA07C9}" vid="{AE223C04-3F7D-4337-AA9C-E9D20F57FF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3add6c0-cfdb-4bb9-b90f-bf23b83aa6c0}" enabled="1" method="Privileged" siteId="{75e027c9-20d5-47d5-b82f-77d7cd041e8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176</TotalTime>
  <Words>372</Words>
  <Application>Microsoft Office PowerPoint</Application>
  <PresentationFormat>Widescreen</PresentationFormat>
  <Paragraphs>45</Paragraphs>
  <Slides>6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ST PowerPoint Template 16x9</vt:lpstr>
      <vt:lpstr>Exposure times VD55G0</vt:lpstr>
      <vt:lpstr>Exposure Lines</vt:lpstr>
      <vt:lpstr>Exposure times</vt:lpstr>
      <vt:lpstr>Current Exposure Settings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times foxy</dc:title>
  <dc:creator>Antonella BUQUICCHIO1</dc:creator>
  <cp:keywords>Template v1.19</cp:keywords>
  <cp:lastModifiedBy>Antonella BUQUICCHIO1</cp:lastModifiedBy>
  <cp:revision>10</cp:revision>
  <dcterms:created xsi:type="dcterms:W3CDTF">2024-04-02T10:33:56Z</dcterms:created>
  <dcterms:modified xsi:type="dcterms:W3CDTF">2024-04-03T10:37:06Z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ST PowerPoint Template 16x9:43</vt:lpwstr>
  </property>
  <property fmtid="{D5CDD505-2E9C-101B-9397-08002B2CF9AE}" pid="3" name="ClassificationContentMarkingFooterText">
    <vt:lpwstr>ST Restricted</vt:lpwstr>
  </property>
</Properties>
</file>